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0"/>
  </p:normalViewPr>
  <p:slideViewPr>
    <p:cSldViewPr snapToGrid="0">
      <p:cViewPr varScale="1">
        <p:scale>
          <a:sx n="118" d="100"/>
          <a:sy n="118" d="100"/>
        </p:scale>
        <p:origin x="3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6"/>
          <p:cNvPicPr>
            <a:picLocks noChangeAspect="1"/>
          </p:cNvPicPr>
          <p:nvPr/>
        </p:nvPicPr>
        <p:blipFill>
          <a:blip r:embed="rId3"/>
          <a:srcRect l="20833" r="20833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A779449-AADE-4D89-B773-679C79FE83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953250" cy="6858000"/>
          </a:xfrm>
          <a:prstGeom prst="rect">
            <a:avLst/>
          </a:prstGeom>
          <a:solidFill>
            <a:srgbClr val="F7F1E7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0B6D68-E27E-446C-A01A-1C92F12B4B44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lang="en-GB" sz="1050" b="1" dirty="0">
                <a:solidFill>
                  <a:srgbClr val="E98A5B"/>
                </a:solidFill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4B6190-B80D-4AFD-9010-4E4667DC15D0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MEDIA KIT 2026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CEE483A-E1BD-425D-8CF7-D2BEF5574533}"/>
              </a:ext>
            </a:extLst>
          </p:cNvPr>
          <p:cNvSpPr>
            <a:spLocks noGrp="1"/>
          </p:cNvSpPr>
          <p:nvPr/>
        </p:nvSpPr>
        <p:spPr>
          <a:xfrm>
            <a:off x="495300" y="933450"/>
            <a:ext cx="1257300" cy="304800"/>
          </a:xfrm>
          <a:prstGeom prst="roundRect">
            <a:avLst>
              <a:gd name="adj" fmla="val 50000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3D8BBA-76D6-4964-B04C-06C16497D01F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287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176B87"/>
                </a:solidFill>
              </a:defRPr>
            </a:pPr>
            <a:r>
              <a:rPr lang="en-GB" sz="900" b="1" dirty="0">
                <a:solidFill>
                  <a:srgbClr val="176B87"/>
                </a:solidFill>
              </a:rPr>
              <a:t>SOLO TRAVEL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8BBD8F6-F22E-4777-9809-094857AB5AB5}"/>
              </a:ext>
            </a:extLst>
          </p:cNvPr>
          <p:cNvSpPr>
            <a:spLocks noGrp="1"/>
          </p:cNvSpPr>
          <p:nvPr/>
        </p:nvSpPr>
        <p:spPr>
          <a:xfrm>
            <a:off x="1847850" y="933450"/>
            <a:ext cx="1619250" cy="304800"/>
          </a:xfrm>
          <a:prstGeom prst="roundRect">
            <a:avLst>
              <a:gd name="adj" fmla="val 50000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A8FC16-573C-4BC2-9D09-1F36899946B9}"/>
              </a:ext>
            </a:extLst>
          </p:cNvPr>
          <p:cNvSpPr>
            <a:spLocks noGrp="1"/>
          </p:cNvSpPr>
          <p:nvPr/>
        </p:nvSpPr>
        <p:spPr>
          <a:xfrm>
            <a:off x="1962150" y="1000125"/>
            <a:ext cx="1390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176B87"/>
                </a:solidFill>
              </a:defRPr>
            </a:pPr>
            <a:r>
              <a:rPr lang="en-GB" sz="900" b="1" dirty="0">
                <a:solidFill>
                  <a:srgbClr val="176B87"/>
                </a:solidFill>
              </a:rPr>
              <a:t>TYPE 1 DIABETES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659B029-288D-4AC6-88FD-E6837083E84E}"/>
              </a:ext>
            </a:extLst>
          </p:cNvPr>
          <p:cNvSpPr>
            <a:spLocks noGrp="1"/>
          </p:cNvSpPr>
          <p:nvPr/>
        </p:nvSpPr>
        <p:spPr>
          <a:xfrm>
            <a:off x="3562350" y="933450"/>
            <a:ext cx="1676400" cy="304800"/>
          </a:xfrm>
          <a:prstGeom prst="roundRect">
            <a:avLst>
              <a:gd name="adj" fmla="val 50000"/>
            </a:avLst>
          </a:prstGeom>
          <a:solidFill>
            <a:srgbClr val="FCE3D5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041E0D-E139-4E32-A9E4-BFB9B326C514}"/>
              </a:ext>
            </a:extLst>
          </p:cNvPr>
          <p:cNvSpPr>
            <a:spLocks noGrp="1"/>
          </p:cNvSpPr>
          <p:nvPr/>
        </p:nvSpPr>
        <p:spPr>
          <a:xfrm>
            <a:off x="3676650" y="1000125"/>
            <a:ext cx="14478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lang="en-GB" sz="900" b="1" dirty="0">
                <a:solidFill>
                  <a:srgbClr val="E98A5B"/>
                </a:solidFill>
              </a:rPr>
              <a:t>SEVERE ALLERGIES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501B2F-4780-4A60-A6B8-C1BAEC0902EC}"/>
              </a:ext>
            </a:extLst>
          </p:cNvPr>
          <p:cNvSpPr>
            <a:spLocks noGrp="1"/>
          </p:cNvSpPr>
          <p:nvPr/>
        </p:nvSpPr>
        <p:spPr>
          <a:xfrm>
            <a:off x="495300" y="1476375"/>
            <a:ext cx="6096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950" b="1">
                <a:solidFill>
                  <a:srgbClr val="15323B"/>
                </a:solidFill>
              </a:defRPr>
            </a:pPr>
            <a:r>
              <a:rPr lang="en-GB" sz="4950" b="1" dirty="0">
                <a:solidFill>
                  <a:srgbClr val="15323B"/>
                </a:solidFill>
              </a:rPr>
              <a:t>OLLIE</a:t>
            </a:r>
          </a:p>
          <a:p>
            <a:pPr algn="l">
              <a:buNone/>
              <a:defRPr sz="4950" b="1">
                <a:solidFill>
                  <a:srgbClr val="15323B"/>
                </a:solidFill>
              </a:defRPr>
            </a:pPr>
            <a:r>
              <a:rPr lang="en-GB" sz="4950" b="1" dirty="0">
                <a:solidFill>
                  <a:srgbClr val="15323B"/>
                </a:solidFill>
              </a:rPr>
              <a:t/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E56A2C-874A-4977-9998-17D2BA87F955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581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2F5D50"/>
                </a:solidFill>
              </a:defRPr>
            </a:pPr>
            <a:r>
              <a:rPr lang="en-GB" sz="2100" b="1" dirty="0">
                <a:solidFill>
                  <a:srgbClr val="2F5D50"/>
                </a:solidFill>
              </a:rPr>
              <a:t>Honest solo-travel stories shaped by Type 1 diabetes and severe allergies.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7CDDA8-31C8-46BA-85CC-87F01199F47C}"/>
              </a:ext>
            </a:extLst>
          </p:cNvPr>
          <p:cNvSpPr>
            <a:spLocks noGrp="1"/>
          </p:cNvSpPr>
          <p:nvPr/>
        </p:nvSpPr>
        <p:spPr>
          <a:xfrm>
            <a:off x="495300" y="4191000"/>
            <a:ext cx="581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83038"/>
                </a:solidFill>
              </a:defRPr>
            </a:pPr>
            <a:r>
              <a:rPr lang="en-GB" sz="1425" b="0" dirty="0">
                <a:solidFill>
                  <a:srgbClr val="183038"/>
                </a:solidFill>
              </a:rPr>
              <a:t>Candid journeys, practical problem-solving and a point of view audiences trust.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58C9E6-D0A2-4CD9-AE47-32FC0CFB2F72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76B87"/>
                </a:solidFill>
              </a:defRPr>
            </a:pPr>
            <a:r>
              <a:rPr lang="en-GB" sz="1350" b="1" dirty="0">
                <a:solidFill>
                  <a:srgbClr val="176B87"/>
                </a:solidFill>
              </a:rPr>
              <a:t>11K+ combined followers  •  6.66M Instagram views  •  90 days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F4642C-284D-48D3-8A01-14DD70B236F7}"/>
              </a:ext>
            </a:extLst>
          </p:cNvPr>
          <p:cNvSpPr>
            <a:spLocks noGrp="1"/>
          </p:cNvSpPr>
          <p:nvPr/>
        </p:nvSpPr>
        <p:spPr>
          <a:xfrm>
            <a:off x="495300" y="5857875"/>
            <a:ext cx="619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0">
                <a:solidFill>
                  <a:srgbClr val="5E7378"/>
                </a:solidFill>
              </a:defRPr>
            </a:pPr>
            <a:r>
              <a:rPr lang="en-GB" sz="975" b="0" dirty="0">
                <a:solidFill>
                  <a:srgbClr val="5E7378"/>
                </a:solidFill>
              </a:rPr>
              <a:t>hello@ollietype1travel.com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F0777-5842-4EC8-A80D-366E4A087D29}"/>
              </a:ext>
            </a:extLst>
          </p:cNvPr>
          <p:cNvSpPr>
            <a:spLocks noGrp="1"/>
          </p:cNvSpPr>
          <p:nvPr/>
        </p:nvSpPr>
        <p:spPr>
          <a:xfrm>
            <a:off x="6781800" y="0"/>
            <a:ext cx="7620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5298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ABOUT OLLIE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 dirty="0">
                <a:solidFill>
                  <a:srgbClr val="15323B"/>
                </a:solidFill>
              </a:rPr>
              <a:t>REAL TRAVEL.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 dirty="0">
                <a:solidFill>
                  <a:srgbClr val="15323B"/>
                </a:solidFill>
              </a:rPr>
              <a:t>USEFUL STORIES.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I share the real decisions behind solo travel with Type 1 diabetes and severe allergies — the mishaps, problem-solving, people and freedom.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LIVED EXPERIENCE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Products and places appear in the moments where I genuinely rely on them.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PRACTICAL VALUE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Useful detail on safety, routines and the decisions that make a journey possible.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STORY-LED EXECUTION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Hook-led vertical video built around tension, humour and practical problem-solving.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PURPOSE-LED PERSPECTIVE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Diabetes UK Young Leader and Action4Diabetes volunteer.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NATURAL BRAND FIT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Destinations, stays, tours, travel tech, insurance and accessibility-led products.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sz="1125" b="1">
                <a:solidFill>
                  <a:srgbClr val="E98A5B"/>
                </a:solidFill>
              </a:rPr>
              <a:t>MY POINT OF VIEW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Honest moments. Useful detail.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A credible role for the right brand.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sz="900" b="1">
                <a:solidFill>
                  <a:srgbClr val="E98A5B"/>
                </a:solidFill>
              </a:rPr>
              <a:t>Solo travel  •  health and accessibility  •  practical adventure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sz="1275" b="1">
                <a:solidFill>
                  <a:srgbClr val="176B87"/>
                </a:solidFill>
              </a:rPr>
              <a:t>hello@ollietype1travel.com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sz="975" b="0">
                <a:solidFill>
                  <a:srgbClr val="5E7378"/>
                </a:solidFill>
              </a:rPr>
              <a:t>Instagram @ollietype1travel   •   TikTok @ollietype1travel</a:t>
            </a:r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3"/>
          <a:srcRect t="6395" b="6395"/>
          <a:stretch>
            <a:fillRect/>
          </a:stretch>
        </p:blipFill>
        <p:spPr>
          <a:xfrm>
            <a:off x="8096250" y="0"/>
            <a:ext cx="409575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998DA91-4C6C-42A4-A812-4F520EEE38A1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0E4D48-D029-4AC4-9D8B-79F2EA139191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VERIFIED REACH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15FA81-A99A-4157-A38C-B5B6B447D911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58102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THE CONTENT TRAVELS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BEYOND MY AUDIENCE.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BD0785-F010-4E8D-B16D-C1398FBE2514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6715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Instagram Insights show strong discovery across both 90-day and recent 30-day windows.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63D639-7AF6-41E4-905E-A31A5BA10F9C}"/>
              </a:ext>
            </a:extLst>
          </p:cNvPr>
          <p:cNvSpPr>
            <a:spLocks noGrp="1"/>
          </p:cNvSpPr>
          <p:nvPr/>
        </p:nvSpPr>
        <p:spPr>
          <a:xfrm>
            <a:off x="49530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34AECF-0CDF-4226-98EA-AC028E8DB464}"/>
              </a:ext>
            </a:extLst>
          </p:cNvPr>
          <p:cNvSpPr>
            <a:spLocks noGrp="1"/>
          </p:cNvSpPr>
          <p:nvPr/>
        </p:nvSpPr>
        <p:spPr>
          <a:xfrm>
            <a:off x="64770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176B87"/>
                </a:solidFill>
              </a:defRPr>
            </a:pPr>
            <a:r>
              <a:rPr sz="900" b="1">
                <a:solidFill>
                  <a:srgbClr val="176B87"/>
                </a:solidFill>
              </a:rPr>
              <a:t>90-DAY SCALE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06E8BA-1FE4-4CA5-91FB-039E5996B146}"/>
              </a:ext>
            </a:extLst>
          </p:cNvPr>
          <p:cNvSpPr>
            <a:spLocks noGrp="1"/>
          </p:cNvSpPr>
          <p:nvPr/>
        </p:nvSpPr>
        <p:spPr>
          <a:xfrm>
            <a:off x="64770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6.66M views reached 3.23M Instagram accounts.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F6B0289-DDBE-4BC7-9122-97136D483840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6B2C21-B1E2-414A-AAB5-3C01DD86CF59}"/>
              </a:ext>
            </a:extLst>
          </p:cNvPr>
          <p:cNvSpPr>
            <a:spLocks noGrp="1"/>
          </p:cNvSpPr>
          <p:nvPr/>
        </p:nvSpPr>
        <p:spPr>
          <a:xfrm>
            <a:off x="302895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176B87"/>
                </a:solidFill>
              </a:defRPr>
            </a:pPr>
            <a:r>
              <a:rPr sz="900" b="1">
                <a:solidFill>
                  <a:srgbClr val="176B87"/>
                </a:solidFill>
              </a:rPr>
              <a:t>DISCOVERY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2767D5-EE74-4847-B73A-9CDB995D56BB}"/>
              </a:ext>
            </a:extLst>
          </p:cNvPr>
          <p:cNvSpPr>
            <a:spLocks noGrp="1"/>
          </p:cNvSpPr>
          <p:nvPr/>
        </p:nvSpPr>
        <p:spPr>
          <a:xfrm>
            <a:off x="302895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99.4% of 90-day views came from non-followers.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3AE3906-FAC2-4F3B-A5B1-36475A228EFD}"/>
              </a:ext>
            </a:extLst>
          </p:cNvPr>
          <p:cNvSpPr>
            <a:spLocks noGrp="1"/>
          </p:cNvSpPr>
          <p:nvPr/>
        </p:nvSpPr>
        <p:spPr>
          <a:xfrm>
            <a:off x="525780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F2E4C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6878DE-B1D3-458C-9F21-8062024581D6}"/>
              </a:ext>
            </a:extLst>
          </p:cNvPr>
          <p:cNvSpPr>
            <a:spLocks noGrp="1"/>
          </p:cNvSpPr>
          <p:nvPr/>
        </p:nvSpPr>
        <p:spPr>
          <a:xfrm>
            <a:off x="541020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F5D50"/>
                </a:solidFill>
              </a:defRPr>
            </a:pPr>
            <a:r>
              <a:rPr sz="900" b="1">
                <a:solidFill>
                  <a:srgbClr val="2F5D50"/>
                </a:solidFill>
              </a:rPr>
              <a:t>RECENT MOMENTUM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B99F45-E7AB-471E-A949-0B2ECAB17317}"/>
              </a:ext>
            </a:extLst>
          </p:cNvPr>
          <p:cNvSpPr>
            <a:spLocks noGrp="1"/>
          </p:cNvSpPr>
          <p:nvPr/>
        </p:nvSpPr>
        <p:spPr>
          <a:xfrm>
            <a:off x="541020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1.27M views and 658K accounts reached in 30 days.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0BCB12-7DEB-4360-9CC5-16A1E1A18FA2}"/>
              </a:ext>
            </a:extLst>
          </p:cNvPr>
          <p:cNvSpPr>
            <a:spLocks noGrp="1"/>
          </p:cNvSpPr>
          <p:nvPr/>
        </p:nvSpPr>
        <p:spPr>
          <a:xfrm>
            <a:off x="495300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6378D9-5121-46EA-A651-852BD525583D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6,658,635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FF7F02-621B-4241-9DBE-65B84599ADBA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Instagram views · 90d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667B3C0-404E-43F8-8D00-6F465712C301}"/>
              </a:ext>
            </a:extLst>
          </p:cNvPr>
          <p:cNvSpPr>
            <a:spLocks noGrp="1"/>
          </p:cNvSpPr>
          <p:nvPr/>
        </p:nvSpPr>
        <p:spPr>
          <a:xfrm>
            <a:off x="2257425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F8DAE2-61DC-492A-99FE-1326D459EE9C}"/>
              </a:ext>
            </a:extLst>
          </p:cNvPr>
          <p:cNvSpPr>
            <a:spLocks noGrp="1"/>
          </p:cNvSpPr>
          <p:nvPr/>
        </p:nvSpPr>
        <p:spPr>
          <a:xfrm>
            <a:off x="2371725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3,232,710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612E97-D692-4895-9CAA-6C2A576B1613}"/>
              </a:ext>
            </a:extLst>
          </p:cNvPr>
          <p:cNvSpPr>
            <a:spLocks noGrp="1"/>
          </p:cNvSpPr>
          <p:nvPr/>
        </p:nvSpPr>
        <p:spPr>
          <a:xfrm>
            <a:off x="2371725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IG accounts reached · 90d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2FC5F4E-EF3A-4847-A49E-1DC15EDEC96F}"/>
              </a:ext>
            </a:extLst>
          </p:cNvPr>
          <p:cNvSpPr>
            <a:spLocks noGrp="1"/>
          </p:cNvSpPr>
          <p:nvPr/>
        </p:nvSpPr>
        <p:spPr>
          <a:xfrm>
            <a:off x="4019550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B1CE13-C26C-4AEB-8718-ECEDF93A7863}"/>
              </a:ext>
            </a:extLst>
          </p:cNvPr>
          <p:cNvSpPr>
            <a:spLocks noGrp="1"/>
          </p:cNvSpPr>
          <p:nvPr/>
        </p:nvSpPr>
        <p:spPr>
          <a:xfrm>
            <a:off x="4133850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73,203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F61C41-2233-4A43-A5DA-3FFD8BFAE865}"/>
              </a:ext>
            </a:extLst>
          </p:cNvPr>
          <p:cNvSpPr>
            <a:spLocks noGrp="1"/>
          </p:cNvSpPr>
          <p:nvPr/>
        </p:nvSpPr>
        <p:spPr>
          <a:xfrm>
            <a:off x="4133850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IG interactions · 90d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2407147-FE91-4841-8E63-63FCE0248F7D}"/>
              </a:ext>
            </a:extLst>
          </p:cNvPr>
          <p:cNvSpPr>
            <a:spLocks noGrp="1"/>
          </p:cNvSpPr>
          <p:nvPr/>
        </p:nvSpPr>
        <p:spPr>
          <a:xfrm>
            <a:off x="5781675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5BE2B1-7EAE-42D7-8B54-42817E4E2164}"/>
              </a:ext>
            </a:extLst>
          </p:cNvPr>
          <p:cNvSpPr>
            <a:spLocks noGrp="1"/>
          </p:cNvSpPr>
          <p:nvPr/>
        </p:nvSpPr>
        <p:spPr>
          <a:xfrm>
            <a:off x="5895975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E98A5B"/>
                </a:solidFill>
              </a:defRPr>
            </a:pPr>
            <a:r>
              <a:rPr sz="1725" b="1">
                <a:solidFill>
                  <a:srgbClr val="E98A5B"/>
                </a:solidFill>
              </a:rPr>
              <a:t>99.4%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9FBB94-9528-4697-BB61-DD8F31F019F5}"/>
              </a:ext>
            </a:extLst>
          </p:cNvPr>
          <p:cNvSpPr>
            <a:spLocks noGrp="1"/>
          </p:cNvSpPr>
          <p:nvPr/>
        </p:nvSpPr>
        <p:spPr>
          <a:xfrm>
            <a:off x="5895975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non-follower views · 90d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F40B79-ED10-4CA4-95E3-DB36D3068137}"/>
              </a:ext>
            </a:extLst>
          </p:cNvPr>
          <p:cNvSpPr>
            <a:spLocks noGrp="1"/>
          </p:cNvSpPr>
          <p:nvPr/>
        </p:nvSpPr>
        <p:spPr>
          <a:xfrm>
            <a:off x="495300" y="4914900"/>
            <a:ext cx="695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F5D50"/>
                </a:solidFill>
              </a:defRPr>
            </a:pPr>
            <a:r>
              <a:rPr sz="975" b="1">
                <a:solidFill>
                  <a:srgbClr val="2F5D50"/>
                </a:solidFill>
              </a:rPr>
              <a:t>Instagram Insights  •  90 days: 11 Apr–9 Jul  •  30 days: 10 Jun–9 Jul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E23787-3BEB-4C5F-A365-C50C4CD0E853}"/>
              </a:ext>
            </a:extLst>
          </p:cNvPr>
          <p:cNvSpPr>
            <a:spLocks noGrp="1"/>
          </p:cNvSpPr>
          <p:nvPr/>
        </p:nvSpPr>
        <p:spPr>
          <a:xfrm>
            <a:off x="7734300" y="5334000"/>
            <a:ext cx="3829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F5D50"/>
                </a:solidFill>
              </a:defRPr>
            </a:pPr>
            <a:r>
              <a:rPr sz="1125" b="1">
                <a:solidFill>
                  <a:srgbClr val="2F5D50"/>
                </a:solidFill>
              </a:rPr>
              <a:t>90-DAY  •  30-DAY  •  DASHBOARD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5E7F71-664C-46E8-868D-806863D44208}"/>
              </a:ext>
            </a:extLst>
          </p:cNvPr>
          <p:cNvSpPr>
            <a:spLocks noGrp="1"/>
          </p:cNvSpPr>
          <p:nvPr/>
        </p:nvSpPr>
        <p:spPr>
          <a:xfrm>
            <a:off x="495300" y="6229350"/>
            <a:ext cx="1085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E98A5B"/>
                </a:solidFill>
              </a:defRPr>
            </a:pPr>
            <a:r>
              <a:rPr sz="1425" b="1">
                <a:solidFill>
                  <a:srgbClr val="E98A5B"/>
                </a:solidFill>
              </a:rPr>
              <a:t>Discovery gives brands scale: almost every view came from outside the existing audience.</a:t>
            </a: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3"/>
          <a:srcRect l="52" r="52"/>
          <a:stretch>
            <a:fillRect/>
          </a:stretch>
        </p:blipFill>
        <p:spPr>
          <a:xfrm>
            <a:off x="7734300" y="1752600"/>
            <a:ext cx="1571625" cy="3409950"/>
          </a:xfrm>
          <a:prstGeom prst="roundRect">
            <a:avLst>
              <a:gd name="adj" fmla="val 12121"/>
            </a:avLst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rcRect t="63" b="63"/>
          <a:stretch>
            <a:fillRect/>
          </a:stretch>
        </p:blipFill>
        <p:spPr>
          <a:xfrm>
            <a:off x="9039225" y="1695450"/>
            <a:ext cx="1619250" cy="3429000"/>
          </a:xfrm>
          <a:prstGeom prst="roundRect">
            <a:avLst>
              <a:gd name="adj" fmla="val 11765"/>
            </a:avLst>
          </a:prstGeom>
        </p:spPr>
      </p:pic>
      <p:pic>
        <p:nvPicPr>
          <p:cNvPr id="65" name="Picture 64"/>
          <p:cNvPicPr>
            <a:picLocks noChangeAspect="1"/>
          </p:cNvPicPr>
          <p:nvPr/>
        </p:nvPicPr>
        <p:blipFill>
          <a:blip r:embed="rId5"/>
          <a:srcRect l="52" r="52"/>
          <a:stretch>
            <a:fillRect/>
          </a:stretch>
        </p:blipFill>
        <p:spPr>
          <a:xfrm>
            <a:off x="10353675" y="1752600"/>
            <a:ext cx="1571625" cy="3409950"/>
          </a:xfrm>
          <a:prstGeom prst="roundRect">
            <a:avLst>
              <a:gd name="adj" fmla="val 12121"/>
            </a:avLst>
          </a:prstGeom>
        </p:spPr>
      </p:pic>
    </p:spTree>
    <p:extLst>
      <p:ext uri="{BB962C8B-B14F-4D97-AF65-F5344CB8AC3E}">
        <p14:creationId xmlns:p14="http://schemas.microsoft.com/office/powerpoint/2010/main" val="1746605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lang="en-GB" sz="1050" b="1" dirty="0">
                <a:solidFill>
                  <a:srgbClr val="E98A5B"/>
                </a:solidFill>
              </a:rPr>
              <a:t>04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RECENT CONTENT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lang="en-GB" sz="3300" b="1" dirty="0">
                <a:solidFill>
                  <a:srgbClr val="15323B"/>
                </a:solidFill>
              </a:rPr>
              <a:t>THREE REELS.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lang="en-GB" sz="3300" b="1" dirty="0">
                <a:solidFill>
                  <a:srgbClr val="15323B"/>
                </a:solidFill>
              </a:rPr>
              <a:t>133K+ VIEWS EACH.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lang="en-GB" sz="1350" b="1" dirty="0">
                <a:solidFill>
                  <a:srgbClr val="2F5D50"/>
                </a:solidFill>
              </a:rPr>
              <a:t>The 30-day content view shows three recent Reels passing 133K views, with two above 300K.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357.7K VIEWS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Top Reel  •  Instagram  •  30-day content view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312.4K VIEWS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Second Reel  •  Instagram  •  30-day content view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133.4K VIEWS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Third Reel  •  Instagram  •  30-day content view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1,271,725 VIEWS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All Instagram content  •  30 days  •  10 Jun–9 Jul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99.5% NON-FOLLOWERS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Share of Instagram views  •  same 30-day period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lang="en-GB" sz="1125" b="1" dirty="0">
                <a:solidFill>
                  <a:srgbClr val="E98A5B"/>
                </a:solidFill>
              </a:rPr>
              <a:t>PLATFORM SIGNAL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lang="en-GB" sz="1125" b="1" dirty="0">
                <a:solidFill>
                  <a:srgbClr val="15323B"/>
                </a:solidFill>
              </a:rPr>
              <a:t>One Reel received 5,068% more plays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lang="en-GB" sz="1125" b="1" dirty="0">
                <a:solidFill>
                  <a:srgbClr val="15323B"/>
                </a:solidFill>
              </a:rPr>
              <a:t>than any of the previous five Reels.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lang="en-GB" sz="900" b="1" dirty="0">
                <a:solidFill>
                  <a:srgbClr val="E98A5B"/>
                </a:solidFill>
              </a:rPr>
              <a:t>Instagram Reels  •  30-day content view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lang="en-GB" sz="1275" b="1" dirty="0">
                <a:solidFill>
                  <a:srgbClr val="176B87"/>
                </a:solidFill>
              </a:rPr>
              <a:t>Source: Instagram Insights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lang="en-GB" sz="975" b="0" dirty="0">
                <a:solidFill>
                  <a:srgbClr val="5E7378"/>
                </a:solidFill>
              </a:rPr>
              <a:t>Dashboard: 10 Jun–9 Jul</a:t>
            </a:r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3"/>
          <a:srcRect t="21164" b="21164"/>
          <a:stretch>
            <a:fillRect/>
          </a:stretch>
        </p:blipFill>
        <p:spPr>
          <a:xfrm>
            <a:off x="8172450" y="285750"/>
            <a:ext cx="3581400" cy="4476750"/>
          </a:xfrm>
          <a:prstGeom prst="roundRect">
            <a:avLst>
              <a:gd name="adj" fmla="val 6383"/>
            </a:avLst>
          </a:prstGeom>
        </p:spPr>
      </p:pic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PARTNERSHIPS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BUILD THE BRAND INTO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A JOURNEY PEOPLE FOLLOW.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Every partnership starts with a real travel need, decision or challenge — then becomes a hook-led story that shows the brand in use.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HOSTED STAYS + DESTINATIONS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Authentic hotel, hostel and destination stories built around the experience.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TOURS + EXPERIENCES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Bring viewers into the activity with a clear reason to care.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TRAVEL TECH + SAFETY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eSIMs, apps, insurance and safety products shown on a real journey.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UGC + PAID SOCIAL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Hook-led vertical creative for organic and paid channels.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RIGHTS + REPORTING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Usage by agreement, with a clear analytics recap after delivery.</a:t>
            </a:r>
          </a:p>
        </p:txBody>
      </p:sp>
      <p:pic>
        <p:nvPicPr>
          <p:cNvPr id="48" name="Picture 46"/>
          <p:cNvPicPr>
            <a:picLocks noChangeAspect="1"/>
          </p:cNvPicPr>
          <p:nvPr/>
        </p:nvPicPr>
        <p:blipFill>
          <a:blip r:embed="rId3"/>
          <a:srcRect l="10185" r="10185"/>
          <a:stretch>
            <a:fillRect/>
          </a:stretch>
        </p:blipFill>
        <p:spPr>
          <a:xfrm>
            <a:off x="8096250" y="0"/>
            <a:ext cx="4095750" cy="685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sz="1125" b="1">
                <a:solidFill>
                  <a:srgbClr val="E98A5B"/>
                </a:solidFill>
              </a:rPr>
              <a:t>OPEN TO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Paid partnerships  •  hosted travel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UGC licensing  •  destination campaigns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sz="900" b="1">
                <a:solidFill>
                  <a:srgbClr val="E98A5B"/>
                </a:solidFill>
              </a:rPr>
              <a:t>Concept  •  hooks  •  filming  •  editing  •  organic posting  •  analytics recap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sz="1275" b="1">
                <a:solidFill>
                  <a:srgbClr val="176B87"/>
                </a:solidFill>
              </a:rPr>
              <a:t>hello@ollietype1travel.com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sz="975" b="0">
                <a:solidFill>
                  <a:srgbClr val="5E7378"/>
                </a:solidFill>
              </a:rPr>
              <a:t>Instagram @ollietype1travel   •   TikTok @ollietype1travel</a:t>
            </a:r>
          </a:p>
        </p:txBody>
      </p:sp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585</Words>
  <Application>Microsoft Macintosh PowerPoint</Application>
  <DocSecurity>0</DocSecurity>
  <PresentationFormat>Widescreen</PresentationFormat>
  <Paragraphs>96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Oliver Steadman</cp:lastModifiedBy>
  <cp:revision>2</cp:revision>
  <dcterms:created xsi:type="dcterms:W3CDTF">2026-07-22T10:09:36Z</dcterms:created>
  <dcterms:modified xsi:type="dcterms:W3CDTF">2026-07-22T10:43:37Z</dcterms:modified>
</cp:coreProperties>
</file>